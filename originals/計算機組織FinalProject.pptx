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handoutMasterIdLst>
    <p:handoutMasterId r:id="rId11"/>
  </p:handoutMasterIdLst>
  <p:sldIdLst>
    <p:sldId id="256" r:id="rId2"/>
    <p:sldId id="257" r:id="rId3"/>
    <p:sldId id="261" r:id="rId4"/>
    <p:sldId id="264" r:id="rId5"/>
    <p:sldId id="258" r:id="rId6"/>
    <p:sldId id="259" r:id="rId7"/>
    <p:sldId id="260" r:id="rId8"/>
    <p:sldId id="262" r:id="rId9"/>
    <p:sldId id="263" r:id="rId10"/>
  </p:sldIdLst>
  <p:sldSz cx="9144000" cy="6858000" type="screen4x3"/>
  <p:notesSz cx="6797675" cy="9872663"/>
  <p:defaultTextStyle>
    <a:defPPr lvl="0">
      <a:defRPr lang="zh-TW"/>
    </a:defPPr>
    <a:lvl1pPr lvl="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lvl="1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lvl="2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lvl="3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lvl="4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lvl="5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lvl="6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lvl="7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lvl="8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6" d="100"/>
          <a:sy n="106" d="100"/>
        </p:scale>
        <p:origin x="763" y="-5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769" cy="4957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814" y="1"/>
            <a:ext cx="2945768" cy="4957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FFED1-2D4C-4330-80EA-00BE69A57E45}" type="datetimeFigureOut">
              <a:rPr lang="zh-TW" altLang="en-US" smtClean="0"/>
              <a:t>2018/12/26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376956"/>
            <a:ext cx="2945769" cy="49570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814" y="9376956"/>
            <a:ext cx="2945768" cy="49570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D7E826-111E-4C4E-A8A3-57A1A4BEF2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5340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AA35E-D917-441F-BBF0-CB6944574100}" type="datetime1">
              <a:rPr lang="zh-TW" altLang="en-US"/>
              <a:pPr>
                <a:defRPr/>
              </a:pPr>
              <a:t>2018/12/26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002BB6-7A31-4AD0-88BA-FC457C13118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363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B9CD0E-1C9D-4696-8C03-6F66B3AF50A0}" type="datetime1">
              <a:rPr lang="zh-TW" altLang="en-US"/>
              <a:pPr>
                <a:defRPr/>
              </a:pPr>
              <a:t>2018/12/26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7C828-E98A-4FE1-8CBA-E747DC6DBF8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73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4398EE-F9A7-4909-B59B-3BE6DDA02516}" type="datetime1">
              <a:rPr lang="zh-TW" altLang="en-US"/>
              <a:pPr>
                <a:defRPr/>
              </a:pPr>
              <a:t>2018/12/26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FDC16-B6DA-4B53-AD77-6AE4FBEC292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2303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CCCD1-EEA2-40EE-B026-AFCF4DD98E77}" type="datetime1">
              <a:rPr lang="zh-TW" altLang="en-US"/>
              <a:pPr>
                <a:defRPr/>
              </a:pPr>
              <a:t>2018/12/26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69F0D9-797B-4EA5-89CA-6C91FEE482C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2004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5B81B-22A0-4923-90CD-1AAC53A451CE}" type="datetime1">
              <a:rPr lang="zh-TW" altLang="en-US"/>
              <a:pPr>
                <a:defRPr/>
              </a:pPr>
              <a:t>2018/12/26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EFEE0C-9DC7-4A5A-9D3E-68A864CBC85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756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FE793-9C66-4E3D-B210-EEA96D710101}" type="datetime1">
              <a:rPr lang="zh-TW" altLang="en-US"/>
              <a:pPr>
                <a:defRPr/>
              </a:pPr>
              <a:t>2018/12/26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F1B505-C159-4CC4-A1A5-5DEDFE30335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8492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49B33F-61E5-44B8-A857-A08B97EBB383}" type="datetime1">
              <a:rPr lang="zh-TW" altLang="en-US"/>
              <a:pPr>
                <a:defRPr/>
              </a:pPr>
              <a:t>2018/12/26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923EE8-7CCA-4F92-A0F4-2237E3E5DC7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0727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99A356-0A85-44B3-A3A4-4470D5D6B52C}" type="datetime1">
              <a:rPr lang="zh-TW" altLang="en-US"/>
              <a:pPr>
                <a:defRPr/>
              </a:pPr>
              <a:t>2018/12/26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2BFB4A-D897-477F-871B-1F76E5F9FB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30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9032B2-9DC3-423C-8D95-9BEDB371E88B}" type="datetime1">
              <a:rPr lang="zh-TW" altLang="en-US"/>
              <a:pPr>
                <a:defRPr/>
              </a:pPr>
              <a:t>2018/12/26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EFCD4C-ED01-4A80-B017-11FB0F74C89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670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700694-9C6E-4E9B-B0C3-727F664C3F02}" type="datetime1">
              <a:rPr lang="zh-TW" altLang="en-US"/>
              <a:pPr>
                <a:defRPr/>
              </a:pPr>
              <a:t>2018/12/26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426C28-F7E4-4DEC-90D2-EEF738DAA8A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9693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930A3-8847-4206-8EED-8639CEB601D6}" type="datetime1">
              <a:rPr lang="zh-TW" altLang="en-US"/>
              <a:pPr>
                <a:defRPr/>
              </a:pPr>
              <a:t>2018/12/26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B1DD8-7FD1-46F0-9155-7AF9A14E7D4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296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6DF5D65B-56E9-4D2B-BD4A-CF967B1D166D}" type="datetime1">
              <a:rPr lang="zh-TW" altLang="en-US"/>
              <a:pPr>
                <a:defRPr/>
              </a:pPr>
              <a:t>2018/12/26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A1CE6787-9534-4EE8-8328-888424588D3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4050" r:id="rId2"/>
    <p:sldLayoutId id="2147484051" r:id="rId3"/>
    <p:sldLayoutId id="2147484052" r:id="rId4"/>
    <p:sldLayoutId id="2147484053" r:id="rId5"/>
    <p:sldLayoutId id="2147484054" r:id="rId6"/>
    <p:sldLayoutId id="2147484055" r:id="rId7"/>
    <p:sldLayoutId id="2147484056" r:id="rId8"/>
    <p:sldLayoutId id="2147484057" r:id="rId9"/>
    <p:sldLayoutId id="2147484058" r:id="rId10"/>
    <p:sldLayoutId id="2147484059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-376925" y="1855176"/>
            <a:ext cx="9907785" cy="1954531"/>
          </a:xfrm>
        </p:spPr>
        <p:txBody>
          <a:bodyPr/>
          <a:lstStyle/>
          <a:p>
            <a:r>
              <a:rPr lang="en-US" altLang="zh-TW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</a:t>
            </a:r>
            <a:br>
              <a:rPr lang="en-US" altLang="zh-TW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</a:t>
            </a:r>
            <a:endParaRPr lang="zh-TW" alt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487584" y="5058170"/>
            <a:ext cx="4065616" cy="1026107"/>
          </a:xfrm>
        </p:spPr>
        <p:txBody>
          <a:bodyPr/>
          <a:lstStyle/>
          <a:p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方正兰亭粗黑_GBK" charset="-122"/>
              </a:rPr>
              <a:t>Prof</a:t>
            </a:r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方正兰亭粗黑_GBK" charset="-122"/>
              </a:rPr>
              <a:t>.</a:t>
            </a:r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Tsung-Han Tsai</a:t>
            </a:r>
          </a:p>
          <a:p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002BB6-7A31-4AD0-88BA-FC457C13118D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533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98938" y="0"/>
            <a:ext cx="8229600" cy="1143000"/>
          </a:xfrm>
        </p:spPr>
        <p:txBody>
          <a:bodyPr/>
          <a:lstStyle/>
          <a:p>
            <a:pPr algn="l"/>
            <a:r>
              <a:rPr lang="zh-TW" altLang="en-US" dirty="0"/>
              <a:t>題目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22131"/>
            <a:ext cx="8229600" cy="4525963"/>
          </a:xfrm>
        </p:spPr>
        <p:txBody>
          <a:bodyPr/>
          <a:lstStyle/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以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Verilog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architecture.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架構設計須包含以下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instruction set</a:t>
            </a:r>
          </a:p>
          <a:p>
            <a:pPr marL="457200" lvl="1" indent="0">
              <a:buNone/>
            </a:pPr>
            <a:r>
              <a:rPr lang="en-US" altLang="zh-TW" sz="1800" dirty="0" smtClean="0"/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memory-reference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</a:t>
            </a:r>
            <a:r>
              <a:rPr lang="en-US" altLang="zh-TW" sz="1800" dirty="0" smtClean="0"/>
              <a:t>:  </a:t>
            </a:r>
            <a:r>
              <a:rPr lang="en-US" altLang="zh-TW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lw</a:t>
            </a:r>
            <a:r>
              <a:rPr lang="en-US" altLang="zh-TW" sz="16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, </a:t>
            </a:r>
            <a:r>
              <a:rPr lang="en-US" altLang="zh-TW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sw</a:t>
            </a:r>
            <a:endParaRPr lang="en-US" altLang="zh-TW" sz="1600" dirty="0" smtClean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marL="457200" lvl="1" indent="0">
              <a:buNone/>
            </a:pPr>
            <a:r>
              <a:rPr lang="zh-TW" altLang="en-US" sz="1800" dirty="0" smtClean="0"/>
              <a:t>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arithmetic-logical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</a:t>
            </a:r>
            <a:r>
              <a:rPr lang="en-US" altLang="zh-TW" sz="1800" dirty="0"/>
              <a:t>: </a:t>
            </a:r>
            <a:r>
              <a:rPr lang="en-US" altLang="zh-TW" sz="1600" dirty="0">
                <a:solidFill>
                  <a:srgbClr val="002060"/>
                </a:solidFill>
                <a:latin typeface="Arial Black" panose="020B0A04020102020204" pitchFamily="34" charset="0"/>
              </a:rPr>
              <a:t>add, </a:t>
            </a:r>
            <a:r>
              <a:rPr lang="en-US" altLang="zh-TW" sz="1600" dirty="0" err="1">
                <a:solidFill>
                  <a:srgbClr val="002060"/>
                </a:solidFill>
                <a:latin typeface="Arial Black" panose="020B0A04020102020204" pitchFamily="34" charset="0"/>
              </a:rPr>
              <a:t>addi</a:t>
            </a:r>
            <a:r>
              <a:rPr lang="en-US" altLang="zh-TW" sz="1600" dirty="0">
                <a:solidFill>
                  <a:srgbClr val="002060"/>
                </a:solidFill>
                <a:latin typeface="Arial Black" panose="020B0A04020102020204" pitchFamily="34" charset="0"/>
              </a:rPr>
              <a:t>, sub, and</a:t>
            </a:r>
            <a:r>
              <a:rPr lang="en-US" altLang="zh-TW" sz="16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, </a:t>
            </a:r>
            <a:r>
              <a:rPr lang="en-US" altLang="zh-TW" sz="1600" dirty="0">
                <a:solidFill>
                  <a:srgbClr val="002060"/>
                </a:solidFill>
                <a:latin typeface="Arial Black" panose="020B0A04020102020204" pitchFamily="34" charset="0"/>
              </a:rPr>
              <a:t>or, </a:t>
            </a:r>
            <a:r>
              <a:rPr lang="en-US" altLang="zh-TW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slt</a:t>
            </a:r>
            <a:r>
              <a:rPr lang="en-US" altLang="zh-TW" sz="16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</a:p>
          <a:p>
            <a:pPr marL="457200" lvl="1" indent="0">
              <a:buNone/>
            </a:pPr>
            <a:r>
              <a:rPr lang="zh-TW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jumping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lang="en-US" altLang="zh-TW" sz="1800" dirty="0" smtClean="0"/>
              <a:t> :</a:t>
            </a:r>
            <a:r>
              <a:rPr lang="zh-TW" altLang="en-US" sz="1800" dirty="0" smtClean="0"/>
              <a:t> </a:t>
            </a:r>
            <a:r>
              <a:rPr lang="en-US" altLang="zh-TW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beq</a:t>
            </a:r>
            <a:r>
              <a:rPr lang="en-US" altLang="zh-TW" sz="16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, jump</a:t>
            </a:r>
          </a:p>
          <a:p>
            <a:pPr marL="457200" lvl="1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題目分成三個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level:</a:t>
            </a:r>
            <a:b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A: Single cycle implementation </a:t>
            </a:r>
            <a:b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B: Pipeline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  <a:endParaRPr lang="en-US" altLang="zh-TW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C: Hazard Detection 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TW" sz="24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C7C828-E98A-4FE1-8CBA-E747DC6DBF82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6045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349624" y="0"/>
            <a:ext cx="6373906" cy="895256"/>
          </a:xfrm>
        </p:spPr>
        <p:txBody>
          <a:bodyPr/>
          <a:lstStyle/>
          <a:p>
            <a:r>
              <a:rPr lang="en-US" altLang="zh-TW" dirty="0" smtClean="0"/>
              <a:t>Instruction memory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03244" y="1366891"/>
            <a:ext cx="6987208" cy="1048318"/>
          </a:xfrm>
          <a:ln>
            <a:solidFill>
              <a:schemeClr val="tx1"/>
            </a:solidFill>
          </a:ln>
        </p:spPr>
        <p:txBody>
          <a:bodyPr/>
          <a:lstStyle/>
          <a:p>
            <a:pPr marL="457200" lvl="1" indent="0"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memory-reference instructions </a:t>
            </a:r>
            <a:r>
              <a:rPr lang="en-US" altLang="zh-TW" sz="1800" dirty="0"/>
              <a:t>:  </a:t>
            </a:r>
            <a:r>
              <a:rPr lang="en-US" altLang="zh-TW" sz="1600" dirty="0" err="1">
                <a:solidFill>
                  <a:srgbClr val="002060"/>
                </a:solidFill>
                <a:latin typeface="Arial Black" panose="020B0A04020102020204" pitchFamily="34" charset="0"/>
              </a:rPr>
              <a:t>lw</a:t>
            </a:r>
            <a:r>
              <a:rPr lang="en-US" altLang="zh-TW" sz="1600" dirty="0">
                <a:solidFill>
                  <a:srgbClr val="002060"/>
                </a:solidFill>
                <a:latin typeface="Arial Black" panose="020B0A04020102020204" pitchFamily="34" charset="0"/>
              </a:rPr>
              <a:t>, </a:t>
            </a:r>
            <a:r>
              <a:rPr lang="en-US" altLang="zh-TW" sz="1600" dirty="0" err="1">
                <a:solidFill>
                  <a:srgbClr val="002060"/>
                </a:solidFill>
                <a:latin typeface="Arial Black" panose="020B0A04020102020204" pitchFamily="34" charset="0"/>
              </a:rPr>
              <a:t>sw</a:t>
            </a:r>
            <a:endParaRPr lang="en-US" altLang="zh-TW" sz="1600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marL="457200" lvl="1" indent="0">
              <a:buNone/>
            </a:pPr>
            <a:r>
              <a:rPr lang="zh-TW" altLang="en-US" sz="1800" dirty="0"/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arithmetic-logical instructions </a:t>
            </a:r>
            <a:r>
              <a:rPr lang="en-US" altLang="zh-TW" sz="1800" dirty="0"/>
              <a:t>: </a:t>
            </a:r>
            <a:r>
              <a:rPr lang="en-US" altLang="zh-TW" sz="1600" dirty="0">
                <a:solidFill>
                  <a:srgbClr val="002060"/>
                </a:solidFill>
                <a:latin typeface="Arial Black" panose="020B0A04020102020204" pitchFamily="34" charset="0"/>
              </a:rPr>
              <a:t>add, </a:t>
            </a:r>
            <a:r>
              <a:rPr lang="en-US" altLang="zh-TW" sz="1600" dirty="0" err="1">
                <a:solidFill>
                  <a:srgbClr val="002060"/>
                </a:solidFill>
                <a:latin typeface="Arial Black" panose="020B0A04020102020204" pitchFamily="34" charset="0"/>
              </a:rPr>
              <a:t>addi</a:t>
            </a:r>
            <a:r>
              <a:rPr lang="en-US" altLang="zh-TW" sz="1600" dirty="0">
                <a:solidFill>
                  <a:srgbClr val="002060"/>
                </a:solidFill>
                <a:latin typeface="Arial Black" panose="020B0A04020102020204" pitchFamily="34" charset="0"/>
              </a:rPr>
              <a:t>, sub, and, or, </a:t>
            </a:r>
            <a:r>
              <a:rPr lang="en-US" altLang="zh-TW" sz="1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slt</a:t>
            </a:r>
            <a:r>
              <a:rPr lang="en-US" altLang="zh-TW" sz="1600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endParaRPr lang="en-US" altLang="zh-TW" sz="1600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marL="457200" lvl="1" indent="0">
              <a:buNone/>
            </a:pP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jumping instructions</a:t>
            </a:r>
            <a:r>
              <a:rPr lang="en-US" altLang="zh-TW" sz="1800" dirty="0"/>
              <a:t> :</a:t>
            </a:r>
            <a:r>
              <a:rPr lang="zh-TW" altLang="en-US" sz="1800" dirty="0"/>
              <a:t> </a:t>
            </a:r>
            <a:r>
              <a:rPr lang="en-US" altLang="zh-TW" sz="1600" dirty="0" err="1">
                <a:solidFill>
                  <a:srgbClr val="002060"/>
                </a:solidFill>
                <a:latin typeface="Arial Black" panose="020B0A04020102020204" pitchFamily="34" charset="0"/>
              </a:rPr>
              <a:t>beq</a:t>
            </a:r>
            <a:r>
              <a:rPr lang="en-US" altLang="zh-TW" sz="1600" dirty="0">
                <a:solidFill>
                  <a:srgbClr val="002060"/>
                </a:solidFill>
                <a:latin typeface="Arial Black" panose="020B0A04020102020204" pitchFamily="34" charset="0"/>
              </a:rPr>
              <a:t>, jump</a:t>
            </a:r>
          </a:p>
          <a:p>
            <a:pPr marL="0" indent="0" algn="ctr">
              <a:buNone/>
            </a:pP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C7C828-E98A-4FE1-8CBA-E747DC6DBF82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3101542" y="4945595"/>
            <a:ext cx="3118421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/>
              <a:t> </a:t>
            </a:r>
            <a:r>
              <a:rPr lang="zh-TW" altLang="en-US" b="1" dirty="0" smtClean="0"/>
              <a:t>             </a:t>
            </a:r>
            <a:r>
              <a:rPr lang="en-US" altLang="zh-TW" dirty="0" err="1" smtClean="0"/>
              <a:t>addi</a:t>
            </a:r>
            <a:r>
              <a:rPr lang="en-US" altLang="zh-TW" dirty="0" smtClean="0"/>
              <a:t> </a:t>
            </a:r>
            <a:r>
              <a:rPr lang="en-US" altLang="zh-TW" dirty="0"/>
              <a:t>$t1, $s0, 400</a:t>
            </a:r>
          </a:p>
          <a:p>
            <a:r>
              <a:rPr lang="nl-NL" altLang="zh-TW" dirty="0" smtClean="0"/>
              <a:t>LOOP1:</a:t>
            </a:r>
            <a:r>
              <a:rPr lang="zh-TW" altLang="en-US" dirty="0" smtClean="0"/>
              <a:t>  </a:t>
            </a:r>
            <a:r>
              <a:rPr lang="nl-NL" altLang="zh-TW" dirty="0" smtClean="0"/>
              <a:t> </a:t>
            </a:r>
            <a:r>
              <a:rPr lang="nl-NL" altLang="zh-TW" dirty="0"/>
              <a:t>lw $s1, 0($t1)</a:t>
            </a:r>
          </a:p>
          <a:p>
            <a:r>
              <a:rPr lang="zh-TW" altLang="en-US" dirty="0" smtClean="0"/>
              <a:t>              </a:t>
            </a:r>
            <a:r>
              <a:rPr lang="en-US" altLang="zh-TW" dirty="0" smtClean="0"/>
              <a:t>add </a:t>
            </a:r>
            <a:r>
              <a:rPr lang="en-US" altLang="zh-TW" dirty="0"/>
              <a:t>$s2, $s2, $s1</a:t>
            </a:r>
          </a:p>
          <a:p>
            <a:r>
              <a:rPr lang="zh-TW" altLang="en-US" dirty="0" smtClean="0"/>
              <a:t>              </a:t>
            </a:r>
            <a:r>
              <a:rPr lang="en-US" altLang="zh-TW" dirty="0" err="1" smtClean="0"/>
              <a:t>addi</a:t>
            </a:r>
            <a:r>
              <a:rPr lang="en-US" altLang="zh-TW" dirty="0" smtClean="0"/>
              <a:t> </a:t>
            </a:r>
            <a:r>
              <a:rPr lang="en-US" altLang="zh-TW" dirty="0"/>
              <a:t>$t1, $t1, -</a:t>
            </a:r>
            <a:r>
              <a:rPr lang="en-US" altLang="zh-TW" dirty="0" smtClean="0"/>
              <a:t>4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          </a:t>
            </a:r>
            <a:r>
              <a:rPr lang="en-US" altLang="zh-TW" dirty="0" err="1"/>
              <a:t>s</a:t>
            </a:r>
            <a:r>
              <a:rPr lang="en-US" altLang="zh-TW" dirty="0" err="1" smtClean="0"/>
              <a:t>lt</a:t>
            </a:r>
            <a:r>
              <a:rPr lang="en-US" altLang="zh-TW" dirty="0" smtClean="0"/>
              <a:t> $t2,$t1,$s0,</a:t>
            </a:r>
            <a:endParaRPr lang="en-US" altLang="zh-TW" dirty="0"/>
          </a:p>
          <a:p>
            <a:r>
              <a:rPr lang="zh-TW" altLang="en-US" dirty="0" smtClean="0"/>
              <a:t>              </a:t>
            </a:r>
            <a:r>
              <a:rPr lang="en-US" altLang="zh-TW" dirty="0" err="1" smtClean="0"/>
              <a:t>beq</a:t>
            </a:r>
            <a:r>
              <a:rPr lang="en-US" altLang="zh-TW" dirty="0" smtClean="0"/>
              <a:t> </a:t>
            </a:r>
            <a:r>
              <a:rPr lang="en-US" altLang="zh-TW" dirty="0"/>
              <a:t>$</a:t>
            </a:r>
            <a:r>
              <a:rPr lang="en-US" altLang="zh-TW" dirty="0" smtClean="0"/>
              <a:t>t2, 0, LOOP1</a:t>
            </a:r>
          </a:p>
          <a:p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  LOOP2</a:t>
            </a:r>
          </a:p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LOOP2: 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97638" y="2609807"/>
            <a:ext cx="87475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以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上方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MIPS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i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nstruction set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設計一個或數個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program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轉為機器語言並放到你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所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設置的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Instruction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memory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ex:</a:t>
            </a:r>
            <a:r>
              <a:rPr kumimoji="0" lang="zh-TW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I</a:t>
            </a:r>
            <a:r>
              <a:rPr kumimoji="0" lang="en-US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ns_</a:t>
            </a:r>
            <a:r>
              <a:rPr kumimoji="0" lang="zh-TW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memory[</a:t>
            </a:r>
            <a:r>
              <a:rPr kumimoji="0" lang="en-US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0</a:t>
            </a:r>
            <a:r>
              <a:rPr kumimoji="0" lang="zh-TW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] </a:t>
            </a:r>
            <a:r>
              <a:rPr kumimoji="0" lang="zh-TW" altLang="zh-TW" dirty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= </a:t>
            </a:r>
            <a:r>
              <a:rPr kumimoji="0" lang="zh-TW" altLang="zh-TW" dirty="0">
                <a:solidFill>
                  <a:srgbClr val="00B050"/>
                </a:solidFill>
                <a:latin typeface="Arial Unicode MS" panose="020B0604020202020204" pitchFamily="34" charset="-120"/>
                <a:ea typeface="SFMono-Regular"/>
              </a:rPr>
              <a:t>32'b10101100000010000000000000001000</a:t>
            </a:r>
            <a:r>
              <a:rPr kumimoji="0" lang="zh-TW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;</a:t>
            </a:r>
            <a:r>
              <a:rPr kumimoji="0" lang="en-US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 </a:t>
            </a:r>
            <a:r>
              <a:rPr kumimoji="0" lang="zh-TW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/</a:t>
            </a:r>
            <a:r>
              <a:rPr kumimoji="0" lang="zh-TW" altLang="zh-TW" dirty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/sw $t0, 8(</a:t>
            </a:r>
            <a:r>
              <a:rPr kumimoji="0" lang="zh-TW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$zero) </a:t>
            </a:r>
            <a:r>
              <a:rPr kumimoji="0" lang="en-US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	           </a:t>
            </a:r>
          </a:p>
          <a:p>
            <a:r>
              <a:rPr kumimoji="0" lang="en-US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     </a:t>
            </a:r>
            <a:r>
              <a:rPr kumimoji="0" lang="zh-TW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I</a:t>
            </a:r>
            <a:r>
              <a:rPr kumimoji="0" lang="en-US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ns</a:t>
            </a:r>
            <a:r>
              <a:rPr kumimoji="0" lang="en-US" altLang="zh-TW" dirty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_ </a:t>
            </a:r>
            <a:r>
              <a:rPr kumimoji="0" lang="zh-TW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memory[</a:t>
            </a:r>
            <a:r>
              <a:rPr kumimoji="0" lang="en-US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1</a:t>
            </a:r>
            <a:r>
              <a:rPr kumimoji="0" lang="zh-TW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] </a:t>
            </a:r>
            <a:r>
              <a:rPr kumimoji="0" lang="zh-TW" altLang="zh-TW" dirty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= </a:t>
            </a:r>
            <a:r>
              <a:rPr kumimoji="0" lang="zh-TW" altLang="zh-TW" dirty="0" smtClean="0">
                <a:solidFill>
                  <a:srgbClr val="00B050"/>
                </a:solidFill>
                <a:latin typeface="Arial Unicode MS" panose="020B0604020202020204" pitchFamily="34" charset="-120"/>
                <a:ea typeface="SFMono-Regular"/>
              </a:rPr>
              <a:t>32‘b000000</a:t>
            </a:r>
            <a:r>
              <a:rPr kumimoji="0" lang="zh-TW" altLang="en-US" dirty="0" smtClean="0">
                <a:solidFill>
                  <a:srgbClr val="00B050"/>
                </a:solidFill>
                <a:latin typeface="Arial Unicode MS" panose="020B0604020202020204" pitchFamily="34" charset="-120"/>
                <a:ea typeface="SFMono-Regular"/>
              </a:rPr>
              <a:t>*</a:t>
            </a:r>
            <a:r>
              <a:rPr kumimoji="0" lang="zh-TW" altLang="zh-TW" dirty="0" smtClean="0">
                <a:solidFill>
                  <a:srgbClr val="00B050"/>
                </a:solidFill>
                <a:latin typeface="Arial Unicode MS" panose="020B0604020202020204" pitchFamily="34" charset="-120"/>
                <a:ea typeface="SFMono-Regular"/>
              </a:rPr>
              <a:t>01000</a:t>
            </a:r>
            <a:r>
              <a:rPr kumimoji="0" lang="zh-TW" altLang="en-US" dirty="0" smtClean="0">
                <a:solidFill>
                  <a:srgbClr val="00B050"/>
                </a:solidFill>
                <a:latin typeface="Arial Unicode MS" panose="020B0604020202020204" pitchFamily="34" charset="-120"/>
                <a:ea typeface="SFMono-Regular"/>
              </a:rPr>
              <a:t>*</a:t>
            </a:r>
            <a:r>
              <a:rPr kumimoji="0" lang="zh-TW" altLang="zh-TW" dirty="0" smtClean="0">
                <a:solidFill>
                  <a:srgbClr val="00B050"/>
                </a:solidFill>
                <a:latin typeface="Arial Unicode MS" panose="020B0604020202020204" pitchFamily="34" charset="-120"/>
                <a:ea typeface="SFMono-Regular"/>
              </a:rPr>
              <a:t>01001</a:t>
            </a:r>
            <a:r>
              <a:rPr kumimoji="0" lang="zh-TW" altLang="en-US" dirty="0" smtClean="0">
                <a:solidFill>
                  <a:srgbClr val="00B050"/>
                </a:solidFill>
                <a:latin typeface="Arial Unicode MS" panose="020B0604020202020204" pitchFamily="34" charset="-120"/>
                <a:ea typeface="SFMono-Regular"/>
              </a:rPr>
              <a:t>*</a:t>
            </a:r>
            <a:r>
              <a:rPr kumimoji="0" lang="zh-TW" altLang="zh-TW" dirty="0" smtClean="0">
                <a:solidFill>
                  <a:srgbClr val="00B050"/>
                </a:solidFill>
                <a:latin typeface="Arial Unicode MS" panose="020B0604020202020204" pitchFamily="34" charset="-120"/>
                <a:ea typeface="SFMono-Regular"/>
              </a:rPr>
              <a:t>10001</a:t>
            </a:r>
            <a:r>
              <a:rPr kumimoji="0" lang="zh-TW" altLang="en-US" dirty="0" smtClean="0">
                <a:solidFill>
                  <a:srgbClr val="00B050"/>
                </a:solidFill>
                <a:latin typeface="Arial Unicode MS" panose="020B0604020202020204" pitchFamily="34" charset="-120"/>
                <a:ea typeface="SFMono-Regular"/>
              </a:rPr>
              <a:t>*</a:t>
            </a:r>
            <a:r>
              <a:rPr kumimoji="0" lang="zh-TW" altLang="zh-TW" dirty="0" smtClean="0">
                <a:solidFill>
                  <a:srgbClr val="00B050"/>
                </a:solidFill>
                <a:latin typeface="Arial Unicode MS" panose="020B0604020202020204" pitchFamily="34" charset="-120"/>
                <a:ea typeface="SFMono-Regular"/>
              </a:rPr>
              <a:t>00000</a:t>
            </a:r>
            <a:r>
              <a:rPr kumimoji="0" lang="zh-TW" altLang="en-US" dirty="0" smtClean="0">
                <a:solidFill>
                  <a:srgbClr val="00B050"/>
                </a:solidFill>
                <a:latin typeface="Arial Unicode MS" panose="020B0604020202020204" pitchFamily="34" charset="-120"/>
                <a:ea typeface="SFMono-Regular"/>
              </a:rPr>
              <a:t>*</a:t>
            </a:r>
            <a:r>
              <a:rPr kumimoji="0" lang="zh-TW" altLang="zh-TW" dirty="0" smtClean="0">
                <a:solidFill>
                  <a:srgbClr val="00B050"/>
                </a:solidFill>
                <a:latin typeface="Arial Unicode MS" panose="020B0604020202020204" pitchFamily="34" charset="-120"/>
                <a:ea typeface="SFMono-Regular"/>
              </a:rPr>
              <a:t>100000</a:t>
            </a:r>
            <a:r>
              <a:rPr kumimoji="0" lang="zh-TW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;</a:t>
            </a:r>
            <a:r>
              <a:rPr kumimoji="0" lang="en-US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 </a:t>
            </a:r>
            <a:r>
              <a:rPr kumimoji="0" lang="zh-TW" altLang="zh-TW" dirty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//add $s1, </a:t>
            </a:r>
            <a:r>
              <a:rPr kumimoji="0" lang="zh-TW" altLang="zh-TW" dirty="0" smtClean="0">
                <a:solidFill>
                  <a:srgbClr val="24292E"/>
                </a:solidFill>
                <a:latin typeface="Arial Unicode MS" panose="020B0604020202020204" pitchFamily="34" charset="-120"/>
                <a:ea typeface="SFMono-Regular"/>
              </a:rPr>
              <a:t>$t0, $t1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79816" y="4470198"/>
            <a:ext cx="1973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Program. Example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945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C7C828-E98A-4FE1-8CBA-E747DC6DBF82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536331" y="1688441"/>
            <a:ext cx="3476763" cy="32932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/>
              <a:t> </a:t>
            </a:r>
            <a:r>
              <a:rPr lang="zh-TW" altLang="en-US" b="1" dirty="0" smtClean="0"/>
              <a:t>             </a:t>
            </a:r>
            <a:r>
              <a:rPr lang="en-US" altLang="zh-TW" dirty="0" err="1" smtClean="0"/>
              <a:t>addi</a:t>
            </a:r>
            <a:r>
              <a:rPr lang="en-US" altLang="zh-TW" dirty="0" smtClean="0"/>
              <a:t> </a:t>
            </a:r>
            <a:r>
              <a:rPr lang="en-US" altLang="zh-TW" dirty="0"/>
              <a:t>$t1, $s0, </a:t>
            </a:r>
            <a:r>
              <a:rPr lang="en-US" altLang="zh-TW" dirty="0" smtClean="0"/>
              <a:t>40</a:t>
            </a:r>
            <a:endParaRPr lang="en-US" altLang="zh-TW" dirty="0"/>
          </a:p>
          <a:p>
            <a:r>
              <a:rPr lang="nl-NL" altLang="zh-TW" dirty="0" smtClean="0"/>
              <a:t>LOOP1:</a:t>
            </a:r>
            <a:r>
              <a:rPr lang="zh-TW" altLang="en-US" dirty="0" smtClean="0"/>
              <a:t>  </a:t>
            </a:r>
            <a:r>
              <a:rPr lang="nl-NL" altLang="zh-TW" dirty="0" smtClean="0"/>
              <a:t> </a:t>
            </a:r>
            <a:r>
              <a:rPr lang="nl-NL" altLang="zh-TW" dirty="0"/>
              <a:t>lw $s1, 0($t1)</a:t>
            </a:r>
          </a:p>
          <a:p>
            <a:r>
              <a:rPr lang="zh-TW" altLang="en-US" dirty="0" smtClean="0"/>
              <a:t>              </a:t>
            </a:r>
            <a:r>
              <a:rPr lang="en-US" altLang="zh-TW" dirty="0" smtClean="0"/>
              <a:t>add </a:t>
            </a:r>
            <a:r>
              <a:rPr lang="en-US" altLang="zh-TW" dirty="0"/>
              <a:t>$s2, $s2, $s1</a:t>
            </a:r>
          </a:p>
          <a:p>
            <a:r>
              <a:rPr lang="zh-TW" altLang="en-US" dirty="0" smtClean="0"/>
              <a:t>              </a:t>
            </a:r>
            <a:r>
              <a:rPr lang="en-US" altLang="zh-TW" dirty="0" err="1" smtClean="0"/>
              <a:t>addi</a:t>
            </a:r>
            <a:r>
              <a:rPr lang="en-US" altLang="zh-TW" dirty="0" smtClean="0"/>
              <a:t> </a:t>
            </a:r>
            <a:r>
              <a:rPr lang="en-US" altLang="zh-TW" dirty="0"/>
              <a:t>$t1, $t1, -</a:t>
            </a:r>
            <a:r>
              <a:rPr lang="en-US" altLang="zh-TW" dirty="0" smtClean="0"/>
              <a:t>4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             </a:t>
            </a:r>
            <a:r>
              <a:rPr lang="en-US" altLang="zh-TW" dirty="0" err="1"/>
              <a:t>s</a:t>
            </a:r>
            <a:r>
              <a:rPr lang="en-US" altLang="zh-TW" dirty="0" err="1" smtClean="0"/>
              <a:t>lt</a:t>
            </a:r>
            <a:r>
              <a:rPr lang="en-US" altLang="zh-TW" dirty="0" smtClean="0"/>
              <a:t> $t2,$t1,$s0,</a:t>
            </a:r>
            <a:endParaRPr lang="en-US" altLang="zh-TW" dirty="0"/>
          </a:p>
          <a:p>
            <a:r>
              <a:rPr lang="zh-TW" altLang="en-US" dirty="0" smtClean="0"/>
              <a:t>              </a:t>
            </a:r>
            <a:r>
              <a:rPr lang="en-US" altLang="zh-TW" dirty="0" err="1" smtClean="0"/>
              <a:t>beq</a:t>
            </a:r>
            <a:r>
              <a:rPr lang="en-US" altLang="zh-TW" dirty="0" smtClean="0"/>
              <a:t> </a:t>
            </a:r>
            <a:r>
              <a:rPr lang="en-US" altLang="zh-TW" dirty="0"/>
              <a:t>$</a:t>
            </a:r>
            <a:r>
              <a:rPr lang="en-US" altLang="zh-TW" dirty="0" smtClean="0"/>
              <a:t>t2, 0, LOOP1</a:t>
            </a:r>
          </a:p>
          <a:p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  LOOP2</a:t>
            </a:r>
          </a:p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LOOP2: or  $s4 $s3 $s0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sub $t4 $t4 $t3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and $t5 $s4 $t4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$t5 0($s5)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712677" y="1785156"/>
            <a:ext cx="3323492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t0= register 0</a:t>
            </a:r>
          </a:p>
          <a:p>
            <a:r>
              <a:rPr lang="en-US" altLang="zh-TW" dirty="0" smtClean="0"/>
              <a:t>t1</a:t>
            </a:r>
            <a:r>
              <a:rPr lang="en-US" altLang="zh-TW" dirty="0"/>
              <a:t>= register </a:t>
            </a:r>
            <a:r>
              <a:rPr lang="en-US" altLang="zh-TW" dirty="0" smtClean="0"/>
              <a:t>1</a:t>
            </a:r>
            <a:endParaRPr lang="en-US" altLang="zh-TW" dirty="0"/>
          </a:p>
          <a:p>
            <a:r>
              <a:rPr lang="en-US" altLang="zh-TW" dirty="0"/>
              <a:t>t</a:t>
            </a:r>
            <a:r>
              <a:rPr lang="en-US" altLang="zh-TW" dirty="0" smtClean="0"/>
              <a:t>2= </a:t>
            </a:r>
            <a:r>
              <a:rPr lang="en-US" altLang="zh-TW" dirty="0"/>
              <a:t>register </a:t>
            </a:r>
            <a:r>
              <a:rPr lang="en-US" altLang="zh-TW" dirty="0" smtClean="0"/>
              <a:t>2</a:t>
            </a:r>
            <a:endParaRPr lang="en-US" altLang="zh-TW" dirty="0"/>
          </a:p>
          <a:p>
            <a:r>
              <a:rPr lang="en-US" altLang="zh-TW" dirty="0" smtClean="0"/>
              <a:t>t3= </a:t>
            </a:r>
            <a:r>
              <a:rPr lang="en-US" altLang="zh-TW" dirty="0"/>
              <a:t>register </a:t>
            </a:r>
            <a:r>
              <a:rPr lang="en-US" altLang="zh-TW" dirty="0" smtClean="0"/>
              <a:t>3</a:t>
            </a:r>
          </a:p>
          <a:p>
            <a:r>
              <a:rPr lang="en-US" altLang="zh-TW" dirty="0"/>
              <a:t>t</a:t>
            </a:r>
            <a:r>
              <a:rPr lang="en-US" altLang="zh-TW" dirty="0" smtClean="0"/>
              <a:t>4</a:t>
            </a:r>
            <a:r>
              <a:rPr lang="en-US" altLang="zh-TW" dirty="0"/>
              <a:t>= </a:t>
            </a:r>
            <a:r>
              <a:rPr lang="en-US" altLang="zh-TW" dirty="0" smtClean="0"/>
              <a:t>register 4</a:t>
            </a:r>
          </a:p>
          <a:p>
            <a:r>
              <a:rPr lang="en-US" altLang="zh-TW" dirty="0" smtClean="0"/>
              <a:t>T5=regitser5</a:t>
            </a:r>
          </a:p>
          <a:p>
            <a:r>
              <a:rPr lang="en-US" altLang="zh-TW" dirty="0"/>
              <a:t>s</a:t>
            </a:r>
            <a:r>
              <a:rPr lang="en-US" altLang="zh-TW" dirty="0" smtClean="0"/>
              <a:t>0= </a:t>
            </a:r>
            <a:r>
              <a:rPr lang="en-US" altLang="zh-TW" dirty="0"/>
              <a:t>register </a:t>
            </a:r>
            <a:r>
              <a:rPr lang="en-US" altLang="zh-TW" dirty="0" smtClean="0"/>
              <a:t>6</a:t>
            </a:r>
            <a:endParaRPr lang="en-US" altLang="zh-TW" dirty="0"/>
          </a:p>
          <a:p>
            <a:r>
              <a:rPr lang="en-US" altLang="zh-TW" dirty="0" smtClean="0"/>
              <a:t>s1</a:t>
            </a:r>
            <a:r>
              <a:rPr lang="en-US" altLang="zh-TW" dirty="0"/>
              <a:t>= register </a:t>
            </a:r>
            <a:r>
              <a:rPr lang="en-US" altLang="zh-TW" dirty="0" smtClean="0"/>
              <a:t>7</a:t>
            </a:r>
            <a:endParaRPr lang="en-US" altLang="zh-TW" dirty="0"/>
          </a:p>
          <a:p>
            <a:r>
              <a:rPr lang="en-US" altLang="zh-TW" dirty="0" smtClean="0"/>
              <a:t>s2</a:t>
            </a:r>
            <a:r>
              <a:rPr lang="en-US" altLang="zh-TW" dirty="0"/>
              <a:t>= register </a:t>
            </a:r>
            <a:r>
              <a:rPr lang="en-US" altLang="zh-TW" dirty="0" smtClean="0"/>
              <a:t>8</a:t>
            </a:r>
            <a:endParaRPr lang="en-US" altLang="zh-TW" dirty="0"/>
          </a:p>
          <a:p>
            <a:r>
              <a:rPr lang="en-US" altLang="zh-TW" dirty="0" smtClean="0"/>
              <a:t>s3</a:t>
            </a:r>
            <a:r>
              <a:rPr lang="en-US" altLang="zh-TW" dirty="0"/>
              <a:t>= register 9</a:t>
            </a:r>
            <a:endParaRPr lang="en-US" altLang="zh-TW" dirty="0" smtClean="0"/>
          </a:p>
          <a:p>
            <a:r>
              <a:rPr lang="en-US" altLang="zh-TW" dirty="0" smtClean="0"/>
              <a:t>s4= register 10</a:t>
            </a:r>
            <a:endParaRPr lang="en-US" altLang="zh-TW" dirty="0"/>
          </a:p>
          <a:p>
            <a:r>
              <a:rPr lang="en-US" altLang="zh-TW" dirty="0" smtClean="0"/>
              <a:t>S5=register11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705286" y="5432308"/>
            <a:ext cx="36576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t1=s0+400,s0=0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309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31885" y="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A. Single </a:t>
            </a:r>
            <a:r>
              <a:rPr lang="en-US" altLang="zh-TW" dirty="0"/>
              <a:t>cycle implementation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C7C828-E98A-4FE1-8CBA-E747DC6DBF82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533559" y="6242054"/>
            <a:ext cx="1204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Figure.1</a:t>
            </a:r>
            <a:endParaRPr lang="zh-TW" altLang="en-US" dirty="0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0365" y="917420"/>
            <a:ext cx="6979044" cy="534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54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609600" y="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B. </a:t>
            </a:r>
            <a:r>
              <a:rPr lang="en-US" altLang="zh-TW" dirty="0"/>
              <a:t>Pipeline implementation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C7C828-E98A-4FE1-8CBA-E747DC6DBF82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525108" y="6356350"/>
            <a:ext cx="309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Figure.2</a:t>
            </a:r>
            <a:endParaRPr lang="zh-TW" alt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1129" y="926259"/>
            <a:ext cx="7777747" cy="535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15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9148" y="284229"/>
            <a:ext cx="8229600" cy="1143000"/>
          </a:xfrm>
        </p:spPr>
        <p:txBody>
          <a:bodyPr/>
          <a:lstStyle/>
          <a:p>
            <a:pPr lvl="1"/>
            <a:r>
              <a:rPr lang="en-US" altLang="zh-TW" dirty="0" smtClean="0"/>
              <a:t>C. </a:t>
            </a:r>
            <a:r>
              <a:rPr lang="en-US" altLang="zh-TW" dirty="0" err="1" smtClean="0"/>
              <a:t>Datapath</a:t>
            </a:r>
            <a:r>
              <a:rPr lang="en-US" altLang="zh-TW" dirty="0" smtClean="0"/>
              <a:t> with Hazard Detection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C7C828-E98A-4FE1-8CBA-E747DC6DBF82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525108" y="6356350"/>
            <a:ext cx="3094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Figure.3</a:t>
            </a:r>
            <a:endParaRPr lang="zh-TW" alt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14" y="962823"/>
            <a:ext cx="8614086" cy="528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81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370012"/>
            <a:ext cx="8229600" cy="1143000"/>
          </a:xfrm>
        </p:spPr>
        <p:txBody>
          <a:bodyPr/>
          <a:lstStyle/>
          <a:p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以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下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MIPS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Instruction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發生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hazard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，完成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figure.3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解決以下</a:t>
            </a:r>
            <a:r>
              <a:rPr lang="en-US" altLang="zh-TW" sz="1800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hazrd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狀況</a:t>
            </a:r>
            <a:endParaRPr lang="zh-TW" alt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677" y="3086099"/>
            <a:ext cx="8308488" cy="1692213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C7C828-E98A-4FE1-8CBA-E747DC6DBF82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3753214" y="2614889"/>
            <a:ext cx="12682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Program. 2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258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-175846" y="0"/>
            <a:ext cx="3771900" cy="982662"/>
          </a:xfrm>
        </p:spPr>
        <p:txBody>
          <a:bodyPr/>
          <a:lstStyle/>
          <a:p>
            <a:r>
              <a:rPr lang="zh-TW" altLang="en-US" dirty="0" smtClean="0"/>
              <a:t>繳交</a:t>
            </a:r>
            <a:r>
              <a:rPr lang="zh-TW" altLang="en-US" dirty="0"/>
              <a:t>檔案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9277" y="1178170"/>
            <a:ext cx="8634046" cy="20574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1.Word(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完成後轉成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PDF) </a:t>
            </a:r>
          </a:p>
          <a:p>
            <a:pPr lvl="1"/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封面</a:t>
            </a:r>
            <a:endParaRPr lang="en-US" altLang="zh-TW" sz="1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架構圖，並解釋你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架構如何執行 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MIPS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instruction set (</a:t>
            </a:r>
            <a:r>
              <a:rPr lang="en-US" altLang="zh-TW" sz="1800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add,sw,beq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…)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，以及執行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instruction memory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的過程</a:t>
            </a:r>
            <a:endParaRPr lang="en-US" altLang="zh-TW" sz="1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模擬結果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(ex.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暫存器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value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變化，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PC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變化等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參考資料來源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保障智慧財產權，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請附註參考資料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來源</a:t>
            </a:r>
            <a:endParaRPr lang="en-US" altLang="zh-TW" sz="1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小組以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3~4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人為限，小組工作分配表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lvl="1"/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lvl="1" indent="0">
              <a:buNone/>
            </a:pP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sz="1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C7C828-E98A-4FE1-8CBA-E747DC6DBF82}" type="slidenum">
              <a:rPr lang="zh-TW" altLang="en-US" smtClean="0"/>
              <a:pPr>
                <a:defRPr/>
              </a:pPr>
              <a:t>9</a:t>
            </a:fld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799716"/>
              </p:ext>
            </p:extLst>
          </p:nvPr>
        </p:nvGraphicFramePr>
        <p:xfrm>
          <a:off x="5000021" y="3501826"/>
          <a:ext cx="3830515" cy="1041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103">
                  <a:extLst>
                    <a:ext uri="{9D8B030D-6E8A-4147-A177-3AD203B41FA5}">
                      <a16:colId xmlns:a16="http://schemas.microsoft.com/office/drawing/2014/main" val="3892126163"/>
                    </a:ext>
                  </a:extLst>
                </a:gridCol>
                <a:gridCol w="766103">
                  <a:extLst>
                    <a:ext uri="{9D8B030D-6E8A-4147-A177-3AD203B41FA5}">
                      <a16:colId xmlns:a16="http://schemas.microsoft.com/office/drawing/2014/main" val="3757284107"/>
                    </a:ext>
                  </a:extLst>
                </a:gridCol>
                <a:gridCol w="766103">
                  <a:extLst>
                    <a:ext uri="{9D8B030D-6E8A-4147-A177-3AD203B41FA5}">
                      <a16:colId xmlns:a16="http://schemas.microsoft.com/office/drawing/2014/main" val="3984387135"/>
                    </a:ext>
                  </a:extLst>
                </a:gridCol>
                <a:gridCol w="766103">
                  <a:extLst>
                    <a:ext uri="{9D8B030D-6E8A-4147-A177-3AD203B41FA5}">
                      <a16:colId xmlns:a16="http://schemas.microsoft.com/office/drawing/2014/main" val="1570137490"/>
                    </a:ext>
                  </a:extLst>
                </a:gridCol>
                <a:gridCol w="766103">
                  <a:extLst>
                    <a:ext uri="{9D8B030D-6E8A-4147-A177-3AD203B41FA5}">
                      <a16:colId xmlns:a16="http://schemas.microsoft.com/office/drawing/2014/main" val="770748422"/>
                    </a:ext>
                  </a:extLst>
                </a:gridCol>
              </a:tblGrid>
              <a:tr h="246510">
                <a:tc>
                  <a:txBody>
                    <a:bodyPr/>
                    <a:lstStyle/>
                    <a:p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565774"/>
                  </a:ext>
                </a:extLst>
              </a:tr>
              <a:tr h="246510"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工作內容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主</a:t>
                      </a:r>
                      <a:r>
                        <a:rPr lang="en-US" altLang="zh-TW" sz="1000" dirty="0" err="1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modeue</a:t>
                      </a:r>
                      <a:endParaRPr lang="en-US" altLang="zh-TW" sz="1000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r>
                        <a:rPr lang="en-US" altLang="zh-TW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design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架構說明、</a:t>
                      </a:r>
                      <a:r>
                        <a:rPr lang="en-US" altLang="zh-TW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Test</a:t>
                      </a:r>
                      <a:r>
                        <a:rPr lang="en-US" altLang="zh-TW" sz="10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bench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…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…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730787"/>
                  </a:ext>
                </a:extLst>
              </a:tr>
              <a:tr h="246510">
                <a:tc>
                  <a:txBody>
                    <a:bodyPr/>
                    <a:lstStyle/>
                    <a:p>
                      <a:r>
                        <a:rPr lang="zh-TW" altLang="en-US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貢獻比例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40%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20%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…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0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…</a:t>
                      </a:r>
                      <a:endParaRPr lang="zh-TW" altLang="en-US" sz="10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530696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29342" y="3655580"/>
            <a:ext cx="74778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2.RTL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code(Verilog) 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3.Top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module 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testbench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檔名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為：學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號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_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FinalProject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(ex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104521001_FinalProject.rar)</a:t>
            </a:r>
          </a:p>
          <a:p>
            <a:pPr lvl="4"/>
            <a:r>
              <a:rPr lang="zh-TW" altLang="en-US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壓縮檔</a:t>
            </a:r>
            <a:r>
              <a:rPr lang="en-US" altLang="zh-TW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檔案結構： </a:t>
            </a:r>
            <a:endParaRPr lang="en-US" alt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4"/>
            <a:r>
              <a:rPr lang="en-US" altLang="zh-TW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include </a:t>
            </a:r>
            <a:r>
              <a:rPr lang="en-US" altLang="zh-TW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RTL code </a:t>
            </a:r>
            <a:endParaRPr lang="en-US" alt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4"/>
            <a:r>
              <a:rPr lang="en-US" altLang="zh-TW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include </a:t>
            </a:r>
            <a:r>
              <a:rPr lang="en-US" altLang="zh-TW" dirty="0" err="1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testbench</a:t>
            </a:r>
            <a:endParaRPr lang="en-US" altLang="zh-TW" dirty="0" smtClean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4"/>
            <a:r>
              <a:rPr lang="zh-TW" altLang="en-US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學</a:t>
            </a:r>
            <a:r>
              <a:rPr lang="zh-TW" altLang="en-US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號</a:t>
            </a:r>
            <a:r>
              <a:rPr lang="en-US" altLang="zh-TW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_</a:t>
            </a:r>
            <a:r>
              <a:rPr lang="en-US" altLang="zh-TW" dirty="0" smtClean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FinalProject.pdf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6131859" y="5992655"/>
            <a:ext cx="453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最後繳交期限</a:t>
            </a:r>
            <a:r>
              <a:rPr lang="en-US" altLang="zh-TW" dirty="0" smtClean="0"/>
              <a:t>:2019/1/15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3156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1" id="{DA669EC8-AC34-436E-B779-7F6B5AD3BA22}" vid="{72FA5E04-3DA1-45FA-BB8A-8B8B5364EFA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2307</TotalTime>
  <Words>508</Words>
  <Application>Microsoft Office PowerPoint</Application>
  <PresentationFormat>如螢幕大小 (4:3)</PresentationFormat>
  <Paragraphs>104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20" baseType="lpstr">
      <vt:lpstr>Arial Unicode MS</vt:lpstr>
      <vt:lpstr>SFMono-Regular</vt:lpstr>
      <vt:lpstr>宋体</vt:lpstr>
      <vt:lpstr>方正兰亭粗黑_GBK</vt:lpstr>
      <vt:lpstr>新細明體</vt:lpstr>
      <vt:lpstr>標楷體</vt:lpstr>
      <vt:lpstr>Arial</vt:lpstr>
      <vt:lpstr>Arial Black</vt:lpstr>
      <vt:lpstr>Calibri</vt:lpstr>
      <vt:lpstr>Times New Roman</vt:lpstr>
      <vt:lpstr>佈景主題1</vt:lpstr>
      <vt:lpstr>Computer Organization  Final project</vt:lpstr>
      <vt:lpstr>題目</vt:lpstr>
      <vt:lpstr>Instruction memory</vt:lpstr>
      <vt:lpstr>PowerPoint 簡報</vt:lpstr>
      <vt:lpstr>A. Single cycle implementation</vt:lpstr>
      <vt:lpstr>B. Pipeline implementation</vt:lpstr>
      <vt:lpstr>C. Datapath with Hazard Detection </vt:lpstr>
      <vt:lpstr>以下MIPS Instruction發生hazard，完成figure.3解決以下hazrd 狀況</vt:lpstr>
      <vt:lpstr>繳交檔案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admin</cp:lastModifiedBy>
  <cp:revision>83</cp:revision>
  <dcterms:created xsi:type="dcterms:W3CDTF">2018-12-05T13:35:15Z</dcterms:created>
  <dcterms:modified xsi:type="dcterms:W3CDTF">2018-12-26T15:06:43Z</dcterms:modified>
</cp:coreProperties>
</file>